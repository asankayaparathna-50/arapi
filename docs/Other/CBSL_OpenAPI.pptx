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4" r:id="rId4"/>
    <p:sldId id="265" r:id="rId5"/>
    <p:sldId id="266" r:id="rId6"/>
    <p:sldId id="267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1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06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7D961-2AE0-428A-80A1-678A03F483A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947F7-104F-4DA3-9A0F-C450E9708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75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947F7-104F-4DA3-9A0F-C450E9708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26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947F7-104F-4DA3-9A0F-C450E9708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72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ECA9-52D4-48A9-92B9-396475EDB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6F52E-4963-4234-B767-D0175F58A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35A07-DC6A-4A6E-9323-10C80463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47214-0F4B-4193-976D-C1DCA9FF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58299-6944-4336-A030-79C85510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2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23C410-26F8-40E7-9DD7-3A635A69C84E}"/>
              </a:ext>
            </a:extLst>
          </p:cNvPr>
          <p:cNvSpPr/>
          <p:nvPr userDrawn="1"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0F36F2-C505-4D18-8249-CD2D3E67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273049"/>
            <a:ext cx="11545164" cy="81597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70643-0184-4665-AF47-080D4173B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1" y="1495553"/>
            <a:ext cx="11545164" cy="468141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F7E81-E058-4597-9461-63C07360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601" y="6433601"/>
            <a:ext cx="4114800" cy="365125"/>
          </a:xfrm>
        </p:spPr>
        <p:txBody>
          <a:bodyPr/>
          <a:lstStyle>
            <a:lvl1pPr algn="l">
              <a:defRPr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60CC87-E082-45B8-AD50-4AE9F1C50824}"/>
              </a:ext>
            </a:extLst>
          </p:cNvPr>
          <p:cNvSpPr txBox="1">
            <a:spLocks/>
          </p:cNvSpPr>
          <p:nvPr userDrawn="1"/>
        </p:nvSpPr>
        <p:spPr>
          <a:xfrm>
            <a:off x="11418363" y="6377117"/>
            <a:ext cx="482401" cy="4826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200" b="1" kern="1200" smtClean="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A4640-9D16-4554-BA55-3EABEF1F45A0}"/>
              </a:ext>
            </a:extLst>
          </p:cNvPr>
          <p:cNvSpPr/>
          <p:nvPr userDrawn="1"/>
        </p:nvSpPr>
        <p:spPr>
          <a:xfrm>
            <a:off x="11418365" y="6377116"/>
            <a:ext cx="482400" cy="61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8B943-667B-45FD-8680-F23B67DD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8362" y="6433601"/>
            <a:ext cx="482402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4AF86C-FC2E-4DF7-AB8E-1654D3A316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94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6F47-9C6B-4A92-BA8A-F79AB7C9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5BE77-62F9-4E14-BD67-032315543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33ED1-7580-460A-A6AA-CA673F52C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D1302-287B-4188-AD72-81968786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ED4B1-DE18-4A80-A303-2C0C44F4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1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57B5-67E7-4FA6-AE02-0736A679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EBA80-E7D3-491F-90C5-504277549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23761-EB6D-42EC-BE92-ADEE9948F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73663-0AFF-4F28-9BE7-CC6B7DAA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397A3-3686-4DF1-93ED-CC81501F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0FD93-1562-4D06-A0D4-9EBBB446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1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0AEB-93AF-4408-B5FE-DED33F6D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C4759-1A9A-462E-AE62-D9984F81E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8A4D5-519B-4271-A60B-563D3E7FB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05A202-C834-46BE-B295-1E8953B47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4CFE7-216B-44D2-98D8-F8BF00871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11361-6235-4FB3-8E77-33C5B750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68E94-4044-4CAF-A7CE-B0E35191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7DD45-5542-4356-B37A-F375A7E0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7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C9A4-A53B-4F2C-9AB6-927A1659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59898-651F-4C01-9DB5-37872898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DC6A7-2619-43E7-97EC-36F5FFA6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27BA8-3F4E-4739-970A-867BF101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0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53D01A-4E06-4700-B895-25035DA8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70220-4DBB-48FE-86DA-34EADB5F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4F4F-0749-4410-BDB3-DC6E99F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1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1447-B6EB-4039-94B9-A0EC32125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F573-08F8-4B27-985C-ECBE823A2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CF390-34CE-4B83-AC22-396661910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3F015-4E4A-4BC8-B50A-54519AC5B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BC743-F9B3-4FE6-B82F-40D8379A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D59B8-D19E-4448-B9F1-302E5C85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D4BB-EF4A-4911-99B8-EEBD0CE7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D32B77-EC04-439D-A04C-8D0F16345F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8F73E-B78A-4FDB-B814-79289CC12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ADD2B-D9D1-4151-B5F5-A4FB09B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A0A35-C80C-4686-A32A-91133051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343BA-A356-4B6C-8759-36B7BF6B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9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9C9CB-BE39-4514-B183-624E25F9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D830D-1D0F-4AE8-A44F-6A1781828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73A7D-6163-45FD-8352-FEA8DE3B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6BD02-4972-450A-B182-FD66AC2C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30A88-862C-4E5B-A6B1-7429064B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10E3C-F6FC-47F9-AF17-E02CDF92A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2A751-8360-4C85-91F0-5DEF90F7B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947A-74F0-4CBA-8B11-9C26FDAA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D0296-BE2C-490A-BFA4-B94A2400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386-177E-4BB0-B91D-238FB502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2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DE7B6-FFBF-40F8-9ABE-2FC4CC46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AD4F6-C913-4861-9651-1D0BBF96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CE047-0111-4443-A79C-F8616A297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B7FC-140E-4719-B1C9-8F671DFAE45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829D-8F61-4BC3-B0CB-FE7EBDC07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3D21-D012-47E5-9D21-31199384D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AF86C-FC2E-4DF7-AB8E-1654D3A316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B5A32-9ADA-F5CB-346E-370A0F16FDD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908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[Limited Sharing]</a:t>
            </a:r>
          </a:p>
        </p:txBody>
      </p:sp>
    </p:spTree>
    <p:extLst>
      <p:ext uri="{BB962C8B-B14F-4D97-AF65-F5344CB8AC3E}">
        <p14:creationId xmlns:p14="http://schemas.microsoft.com/office/powerpoint/2010/main" val="263915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D05D-6F25-40DE-8545-71FD4CE438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29111-27E9-4FF3-9891-E107D20FBB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9CF79-6142-48CF-B627-E223562C08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85838F-B856-4F93-A63D-35FA79D327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badi" panose="020B06040201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712674-A4F6-4CBF-ABFE-9D83257F838F}"/>
              </a:ext>
            </a:extLst>
          </p:cNvPr>
          <p:cNvSpPr/>
          <p:nvPr/>
        </p:nvSpPr>
        <p:spPr>
          <a:xfrm>
            <a:off x="609600" y="-1"/>
            <a:ext cx="5486400" cy="5312229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9727885-EAA1-472D-AC46-FA364467267D}"/>
              </a:ext>
            </a:extLst>
          </p:cNvPr>
          <p:cNvSpPr txBox="1">
            <a:spLocks/>
          </p:cNvSpPr>
          <p:nvPr/>
        </p:nvSpPr>
        <p:spPr>
          <a:xfrm>
            <a:off x="1045029" y="2857450"/>
            <a:ext cx="4875937" cy="14301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CBSL Open API Initiative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Kick-off Meeting with Statistics Department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CEC877-F66A-4F4E-8FFB-54366BE31DBA}"/>
              </a:ext>
            </a:extLst>
          </p:cNvPr>
          <p:cNvSpPr/>
          <p:nvPr/>
        </p:nvSpPr>
        <p:spPr>
          <a:xfrm>
            <a:off x="1045029" y="4452498"/>
            <a:ext cx="4673600" cy="43180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01/10/2025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60F5BB-CF73-432B-9E1C-7B63215D0ECE}"/>
              </a:ext>
            </a:extLst>
          </p:cNvPr>
          <p:cNvCxnSpPr/>
          <p:nvPr/>
        </p:nvCxnSpPr>
        <p:spPr>
          <a:xfrm>
            <a:off x="990600" y="1846027"/>
            <a:ext cx="47529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E8E031ED-7638-90AF-0F04-C18AE0B5CFB8}"/>
              </a:ext>
            </a:extLst>
          </p:cNvPr>
          <p:cNvSpPr txBox="1">
            <a:spLocks/>
          </p:cNvSpPr>
          <p:nvPr/>
        </p:nvSpPr>
        <p:spPr>
          <a:xfrm>
            <a:off x="4566719" y="6323650"/>
            <a:ext cx="4875937" cy="3735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Technology Department</a:t>
            </a:r>
          </a:p>
        </p:txBody>
      </p:sp>
    </p:spTree>
    <p:extLst>
      <p:ext uri="{BB962C8B-B14F-4D97-AF65-F5344CB8AC3E}">
        <p14:creationId xmlns:p14="http://schemas.microsoft.com/office/powerpoint/2010/main" val="172072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D8E4-092F-49F8-80F9-D367157C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Open APIs?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E0C8E-7E85-2BDB-2237-BF44C7FEF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 interface that allows external developers, businesses, or even the public to access CBSL data or services in a controlled and secure way.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Global best practices: BoE, Federal Reserve, ECB</a:t>
            </a:r>
            <a:r>
              <a:rPr lang="en-US" dirty="0"/>
              <a:t>, BIS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Supports transparency, accessibility, innovation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Reduces manual workload (fewer ad-hoc requests)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Enables researchers, </a:t>
            </a:r>
            <a:r>
              <a:rPr dirty="0" err="1"/>
              <a:t>fintechs</a:t>
            </a:r>
            <a:r>
              <a:rPr dirty="0"/>
              <a:t>, and journalists to use CBSL data effectively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656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BB03-3F22-1906-DE9D-4AFDEA03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0217-6A66-EC30-CC30-3A11E38A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Vision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E7CE-ACD4-C581-31F3-9ED1E464A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Provide secure, reliable, real-time access to CBSL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Encourage wider use of CBSL data in research and services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Build foundation for future digital economy initiatives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34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8B312-BBFA-2393-3842-2BFEBDA6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63284-8FEB-520D-9B9D-C42AC071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Scope &amp; Approach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7541D8-B637-86FE-DCB3-6BBA6D612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Phase 1: Public, non-sensitive datasets (exchange rates, CPI, money supply)</a:t>
            </a:r>
            <a:r>
              <a:rPr lang="en-US" dirty="0"/>
              <a:t> - </a:t>
            </a:r>
            <a:r>
              <a:rPr lang="en-US" i="1" dirty="0"/>
              <a:t>Suggestion</a:t>
            </a:r>
            <a:endParaRPr i="1" dirty="0"/>
          </a:p>
          <a:p>
            <a:endParaRPr dirty="0"/>
          </a:p>
          <a:p>
            <a:r>
              <a:rPr dirty="0"/>
              <a:t>Process: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Data Assessment</a:t>
            </a:r>
            <a:r>
              <a:rPr lang="en-US" dirty="0"/>
              <a:t> (accurate, up-to-date data)</a:t>
            </a:r>
            <a:endParaRPr dirty="0"/>
          </a:p>
          <a:p>
            <a:pPr marL="914400" lvl="1" indent="-514350">
              <a:buFont typeface="+mj-lt"/>
              <a:buAutoNum type="arabicPeriod"/>
            </a:pPr>
            <a:r>
              <a:rPr dirty="0"/>
              <a:t>API Design 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API </a:t>
            </a:r>
            <a:r>
              <a:rPr dirty="0"/>
              <a:t>Development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Pilot Testing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Public Launch</a:t>
            </a:r>
          </a:p>
          <a:p>
            <a:endParaRPr dirty="0"/>
          </a:p>
          <a:p>
            <a:r>
              <a:rPr dirty="0"/>
              <a:t>Designed for scalability and security</a:t>
            </a:r>
          </a:p>
        </p:txBody>
      </p:sp>
    </p:spTree>
    <p:extLst>
      <p:ext uri="{BB962C8B-B14F-4D97-AF65-F5344CB8AC3E}">
        <p14:creationId xmlns:p14="http://schemas.microsoft.com/office/powerpoint/2010/main" val="101828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65A1-CA59-22FC-2B8C-3F088E0C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2B6E-E148-33BB-F677-6B5287F3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We Need from Statistics 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FF591-11CB-E257-1E51-61343E858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inventory: current publications (formats, frequency)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Priorities: datasets to release first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Governance: owners, update frequency, quality checks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Constraints: legal/policy restrictions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Focal Point: departmental contact for coordination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596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BA559-8B2B-7BE6-75A2-97C93987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F848E-675B-98FC-13FD-6E49C8B8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2538C-9C6B-2C09-EE69-123F61FEA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 dirty="0"/>
              <a:t>Step 1: Collect data inventory, finalize scope</a:t>
            </a:r>
          </a:p>
          <a:p>
            <a:r>
              <a:rPr lang="en-US" dirty="0"/>
              <a:t>Step 2: API design and setup</a:t>
            </a:r>
          </a:p>
          <a:p>
            <a:r>
              <a:rPr lang="en-US" dirty="0"/>
              <a:t>Step 3: Pilot testing with selected datasets</a:t>
            </a:r>
          </a:p>
          <a:p>
            <a:r>
              <a:rPr lang="en-US" dirty="0"/>
              <a:t>Step 4: Review, refine, and prepare for launch</a:t>
            </a:r>
          </a:p>
          <a:p>
            <a:endParaRPr lang="en-US" dirty="0"/>
          </a:p>
          <a:p>
            <a:r>
              <a:rPr lang="en-US" dirty="0"/>
              <a:t>Together, we can make CBSL’s data more accessible, transparent, and impactful.</a:t>
            </a:r>
          </a:p>
        </p:txBody>
      </p:sp>
    </p:spTree>
    <p:extLst>
      <p:ext uri="{BB962C8B-B14F-4D97-AF65-F5344CB8AC3E}">
        <p14:creationId xmlns:p14="http://schemas.microsoft.com/office/powerpoint/2010/main" val="198383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standing in front of a building&#10;&#10;Description automatically generated">
            <a:extLst>
              <a:ext uri="{FF2B5EF4-FFF2-40B4-BE49-F238E27FC236}">
                <a16:creationId xmlns:a16="http://schemas.microsoft.com/office/drawing/2014/main" id="{7924DE8D-52DE-458A-BED8-77B5E1AE7B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1" r="3655"/>
          <a:stretch/>
        </p:blipFill>
        <p:spPr>
          <a:xfrm>
            <a:off x="0" y="0"/>
            <a:ext cx="744855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E6563E-DD68-4A01-82B3-5F9DAE9A63D0}"/>
              </a:ext>
            </a:extLst>
          </p:cNvPr>
          <p:cNvSpPr/>
          <p:nvPr/>
        </p:nvSpPr>
        <p:spPr>
          <a:xfrm>
            <a:off x="7448550" y="0"/>
            <a:ext cx="475039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2AA79-D037-42FD-A01C-ACEE9E782CCF}"/>
              </a:ext>
            </a:extLst>
          </p:cNvPr>
          <p:cNvSpPr/>
          <p:nvPr/>
        </p:nvSpPr>
        <p:spPr>
          <a:xfrm>
            <a:off x="0" y="0"/>
            <a:ext cx="7448550" cy="68580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75F9A87-0E96-4EAE-B632-32F5C5B93A0C}"/>
              </a:ext>
            </a:extLst>
          </p:cNvPr>
          <p:cNvSpPr txBox="1">
            <a:spLocks/>
          </p:cNvSpPr>
          <p:nvPr/>
        </p:nvSpPr>
        <p:spPr>
          <a:xfrm>
            <a:off x="7813969" y="2216570"/>
            <a:ext cx="4019551" cy="21268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77599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B9BD5"/>
      </a:accent5>
      <a:accent6>
        <a:srgbClr val="4472C4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258</Words>
  <Application>Microsoft Office PowerPoint</Application>
  <PresentationFormat>Widescreen</PresentationFormat>
  <Paragraphs>41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Abadi</vt:lpstr>
      <vt:lpstr>Arial</vt:lpstr>
      <vt:lpstr>Arial Black</vt:lpstr>
      <vt:lpstr>Calibri</vt:lpstr>
      <vt:lpstr>Calibri Light</vt:lpstr>
      <vt:lpstr>Office Theme</vt:lpstr>
      <vt:lpstr>PowerPoint Presentation</vt:lpstr>
      <vt:lpstr>Why Open APIs?</vt:lpstr>
      <vt:lpstr>Project Vision &amp; Objectives</vt:lpstr>
      <vt:lpstr>Project Scope &amp; Approach</vt:lpstr>
      <vt:lpstr>What We Need from Statistics Department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Ardhi Firmansyah</dc:creator>
  <cp:lastModifiedBy>Boralugoda MBRC</cp:lastModifiedBy>
  <cp:revision>44</cp:revision>
  <dcterms:created xsi:type="dcterms:W3CDTF">2019-08-26T07:10:07Z</dcterms:created>
  <dcterms:modified xsi:type="dcterms:W3CDTF">2025-10-01T08:07:34Z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c4ab6a-b8f9-4a41-a9e3-9d9b3c522aed_Enabled">
    <vt:lpwstr>true</vt:lpwstr>
  </property>
  <property fmtid="{D5CDD505-2E9C-101B-9397-08002B2CF9AE}" pid="3" name="MSIP_Label_83c4ab6a-b8f9-4a41-a9e3-9d9b3c522aed_SetDate">
    <vt:lpwstr>2025-10-01T08:00:33Z</vt:lpwstr>
  </property>
  <property fmtid="{D5CDD505-2E9C-101B-9397-08002B2CF9AE}" pid="4" name="MSIP_Label_83c4ab6a-b8f9-4a41-a9e3-9d9b3c522aed_Method">
    <vt:lpwstr>Standard</vt:lpwstr>
  </property>
  <property fmtid="{D5CDD505-2E9C-101B-9397-08002B2CF9AE}" pid="5" name="MSIP_Label_83c4ab6a-b8f9-4a41-a9e3-9d9b3c522aed_Name">
    <vt:lpwstr>83c4ab6a-b8f9-4a41-a9e3-9d9b3c522aed</vt:lpwstr>
  </property>
  <property fmtid="{D5CDD505-2E9C-101B-9397-08002B2CF9AE}" pid="6" name="MSIP_Label_83c4ab6a-b8f9-4a41-a9e3-9d9b3c522aed_SiteId">
    <vt:lpwstr>deb56736-e31c-4f83-a094-a8aee555a992</vt:lpwstr>
  </property>
  <property fmtid="{D5CDD505-2E9C-101B-9397-08002B2CF9AE}" pid="7" name="MSIP_Label_83c4ab6a-b8f9-4a41-a9e3-9d9b3c522aed_ActionId">
    <vt:lpwstr>6f09a6ae-1ad4-4698-a05f-a4ec58ce87f0</vt:lpwstr>
  </property>
  <property fmtid="{D5CDD505-2E9C-101B-9397-08002B2CF9AE}" pid="8" name="MSIP_Label_83c4ab6a-b8f9-4a41-a9e3-9d9b3c522aed_ContentBits">
    <vt:lpwstr>1</vt:lpwstr>
  </property>
  <property fmtid="{D5CDD505-2E9C-101B-9397-08002B2CF9AE}" pid="9" name="MSIP_Label_83c4ab6a-b8f9-4a41-a9e3-9d9b3c522aed_Tag">
    <vt:lpwstr>10, 3, 0, 1</vt:lpwstr>
  </property>
  <property fmtid="{D5CDD505-2E9C-101B-9397-08002B2CF9AE}" pid="10" name="ClassificationContentMarkingHeaderLocations">
    <vt:lpwstr>Office Theme:8\1_Office Theme:8\2_Office Theme:8</vt:lpwstr>
  </property>
  <property fmtid="{D5CDD505-2E9C-101B-9397-08002B2CF9AE}" pid="11" name="ClassificationContentMarkingHeaderText">
    <vt:lpwstr>[Limited Sharing]</vt:lpwstr>
  </property>
</Properties>
</file>